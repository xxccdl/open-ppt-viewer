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mp4" ContentType="video/mp4"/>
  <Default Extension="mp3" ContentType="audio/m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urn:p" xmlns:r="urn:r" xmlns:a="urn:a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/Relationships>
</file>

<file path=ppt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p>
            <a:r>
              <a:rPr lang="zh-CN" sz="1200" b="1"/>
              <a:t>柱状图：周产量对比</a:t>
            </a:r>
          </a:p>
        </c:rich>
      </c:tx>
    </c:title>
    <c:plotArea>
      <c:layout/>
      <c:barChart>
        <c:barDir val="col"/>
        <c:grouping val="clustered"/>
        <c:ser>
          <c:idx val="0"/>
          <c:order val="0"/>
          <c:tx>
            <c:strRef>
              <c:strCache>
                <c:pt idx="0">
                  <c:v>光反应</c:v>
                </c:pt>
              </c:strCache>
            </c:strRef>
          </c:tx>
          <c:spPr>
            <a:solidFill>
              <a:srgbClr val="2E86DE"/>
            </a:solidFill>
          </c:spPr>
          <c:cat>
            <c:strRef>
              <c:strCache>
                <c:pt idx="0">
                  <c:v>第一周</c:v>
                </c:pt>
                <c:pt idx="1">
                  <c:v>第二周</c:v>
                </c:pt>
                <c:pt idx="2">
                  <c:v>第三周</c:v>
                </c:pt>
                <c:pt idx="3">
                  <c:v>第四周</c:v>
                </c:pt>
              </c:strCache>
            </c:strRef>
          </c:cat>
          <c:val>
            <c:numRef>
              <c:numCache>
                <c:pt idx="0">
                  <c:v>12</c:v>
                </c:pt>
                <c:pt idx="1">
                  <c:v>19</c:v>
                </c:pt>
                <c:pt idx="2">
                  <c:v>15</c:v>
                </c:pt>
                <c:pt idx="3">
                  <c:v>24</c:v>
                </c:pt>
              </c:numCache>
            </c:numRef>
          </c:val>
        </c:ser>
        <c:ser>
          <c:idx val="1"/>
          <c:order val="1"/>
          <c:tx>
            <c:strRef>
              <c:strCache>
                <c:pt idx="0">
                  <c:v>暗反应</c:v>
                </c:pt>
              </c:strCache>
            </c:strRef>
          </c:tx>
          <c:spPr>
            <a:solidFill>
              <a:srgbClr val="F0A500"/>
            </a:solidFill>
          </c:spPr>
          <c:cat>
            <c:strRef>
              <c:strCache>
                <c:pt idx="0">
                  <c:v>第一周</c:v>
                </c:pt>
                <c:pt idx="1">
                  <c:v>第二周</c:v>
                </c:pt>
                <c:pt idx="2">
                  <c:v>第三周</c:v>
                </c:pt>
                <c:pt idx="3">
                  <c:v>第四周</c:v>
                </c:pt>
              </c:strCache>
            </c:strRef>
          </c:cat>
          <c:val>
            <c:numRef>
              <c:numCache>
                <c:pt idx="0">
                  <c:v>8</c:v>
                </c:pt>
                <c:pt idx="1">
                  <c:v>14</c:v>
                </c:pt>
                <c:pt idx="2">
                  <c:v>21</c:v>
                </c:pt>
                <c:pt idx="3">
                  <c:v>17</c:v>
                </c:pt>
              </c:numCache>
            </c:numRef>
          </c:val>
        </c:ser>
        <c:gapWidth val="12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  <c:majorGridlines/>
      </c:valAx>
    </c:plotArea>
    <c:legend>
      <c:legendPos val="b"/>
    </c:legend>
  </c:chart>
</c:chartSpace>
</file>

<file path=ppt/charts/chart2.xml><?xml version="1.0" encoding="utf-8"?>
<c:chartSpace xmlns:c="http://schemas.openxmlformats.org/drawingml/2006/chart" xmlns:a="http://schemas.openxmlformats.org/drawingml/2006/main">
  <c:chart>
    <c:title>
      <c:tx>
        <c:rich>
          <a:bodyPr/>
          <a:p>
            <a:r>
              <a:rPr lang="zh-CN" sz="1200" b="1"/>
              <a:t>折线图：带数据标签</a:t>
            </a:r>
          </a:p>
        </c:rich>
      </c:tx>
    </c:title>
    <c:plotArea>
      <c:layout/>
      <c:lineChart>
        <c:grouping val="standard"/>
        <c:ser>
          <c:idx val="0"/>
          <c:order val="0"/>
          <c:tx>
            <c:strRef>
              <c:strCache>
                <c:pt idx="0">
                  <c:v>含氧量</c:v>
                </c:pt>
              </c:strCache>
            </c:strRef>
          </c:tx>
          <c:spPr>
            <a:ln w="28575">
              <a:solidFill>
                <a:srgbClr val="9141AC"/>
              </a:solidFill>
            </a:ln>
          </c:spPr>
          <c:cat>
            <c:strRef>
              <c:strCache>
                <c:pt idx="0">
                  <c:v>0℃</c:v>
                </c:pt>
                <c:pt idx="1">
                  <c:v>10℃</c:v>
                </c:pt>
                <c:pt idx="2">
                  <c:v>20℃</c:v>
                </c:pt>
                <c:pt idx="3">
                  <c:v>30℃</c:v>
                </c:pt>
                <c:pt idx="4">
                  <c:v>40℃</c:v>
                </c:pt>
              </c:strCache>
            </c:strRef>
          </c:cat>
          <c:val>
            <c:numRef>
              <c:numCache>
                <c:pt idx="0">
                  <c:v>3</c:v>
                </c:pt>
                <c:pt idx="1">
                  <c:v>8</c:v>
                </c:pt>
                <c:pt idx="2">
                  <c:v>14.5</c:v>
                </c:pt>
                <c:pt idx="3">
                  <c:v>9</c:v>
                </c:pt>
                <c:pt idx="4">
                  <c:v>2</c:v>
                </c:pt>
              </c:numCache>
            </c:numRef>
          </c:val>
        </c:ser>
        <c:dLbls>
          <c:showVal val="1"/>
        </c:dLbls>
        <c:axId val="333333333"/>
        <c:axId val="444444444"/>
      </c:lineChart>
      <c:catAx>
        <c:axId val="333333333"/>
        <c:scaling>
          <c:orientation val="minMax"/>
        </c:scaling>
        <c:delete val="0"/>
        <c:axPos val="b"/>
        <c:crossAx val="444444444"/>
      </c:catAx>
      <c:valAx>
        <c:axId val="444444444"/>
        <c:scaling>
          <c:orientation val="minMax"/>
        </c:scaling>
        <c:delete val="0"/>
        <c:axPos val="l"/>
        <c:crossAx val="333333333"/>
        <c:majorGridlines/>
      </c:valAx>
    </c:plotArea>
  </c:chart>
</c:chartSpace>
</file>

<file path=ppt/charts/chart3.xml><?xml version="1.0" encoding="utf-8"?>
<c:chartSpace xmlns:c="http://schemas.openxmlformats.org/drawingml/2006/chart" xmlns:a="http://schemas.openxmlformats.org/drawingml/2006/main">
  <c:chart>
    <c:title>
      <c:tx>
        <c:rich>
          <a:bodyPr/>
          <a:p>
            <a:r>
              <a:rPr lang="zh-CN" sz="1200" b="1"/>
              <a:t>饼图：能量分配</a:t>
            </a:r>
          </a:p>
        </c:rich>
      </c:tx>
    </c:title>
    <c:plotArea>
      <c:layout/>
      <c:pieChart>
        <c:varyColors val="1"/>
        <c:ser>
          <c:idx val="0"/>
          <c:order val="0"/>
          <c:tx>
            <c:strRef>
              <c:strCache>
                <c:pt idx="0">
                  <c:v>占比</c:v>
                </c:pt>
              </c:strCache>
            </c:strRef>
          </c:tx>
          <c:cat>
            <c:strRef>
              <c:strCache>
                <c:pt idx="0">
                  <c:v>光能吸收</c:v>
                </c:pt>
                <c:pt idx="1">
                  <c:v>水的光解</c:v>
                </c:pt>
                <c:pt idx="2">
                  <c:v>ATP 合成</c:v>
                </c:pt>
                <c:pt idx="3">
                  <c:v>其它损耗</c:v>
                </c:pt>
              </c:strCache>
            </c:strRef>
          </c:cat>
          <c:val>
            <c:numRef>
              <c:numCache>
                <c:pt idx="0">
                  <c:v>45</c:v>
                </c:pt>
                <c:pt idx="1">
                  <c:v>25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dLbls>
          <c:showVal val="1"/>
        </c:dLbls>
      </c:pieChart>
    </c:plotArea>
    <c:legend>
      <c:legendPos val="r"/>
    </c:legend>
  </c:chart>
</c:chartSpace>
</file>

<file path=ppt/charts/chart4.xml><?xml version="1.0" encoding="utf-8"?>
<c:chartSpace xmlns:c="http://schemas.openxmlformats.org/drawingml/2006/chart" xmlns:a="http://schemas.openxmlformats.org/drawingml/2006/main">
  <c:chart>
    <c:title>
      <c:tx>
        <c:rich>
          <a:bodyPr/>
          <a:p>
            <a:r>
              <a:rPr lang="zh-CN" sz="1200" b="1"/>
              <a:t>条形图：净变化量（含空值与负值）</a:t>
            </a:r>
          </a:p>
        </c:rich>
      </c:tx>
    </c:title>
    <c:plotArea>
      <c:layout/>
      <c:barChart>
        <c:barDir val="bar"/>
        <c:grouping val="clustered"/>
        <c:ser>
          <c:idx val="0"/>
          <c:order val="0"/>
          <c:tx>
            <c:strRef>
              <c:strCache>
                <c:pt idx="0">
                  <c:v>净变化</c:v>
                </c:pt>
              </c:strCache>
            </c:strRef>
          </c:tx>
          <c:spPr>
            <a:solidFill>
              <a:srgbClr val="70AD47"/>
            </a:solidFill>
          </c:spPr>
          <c:cat>
            <c:strRef>
              <c:strCache>
                <c:pt idx="0">
                  <c:v>光照组</c:v>
                </c:pt>
                <c:pt idx="1">
                  <c:v>遮光组</c:v>
                </c:pt>
                <c:pt idx="2">
                  <c:v>缺测组</c:v>
                </c:pt>
                <c:pt idx="3">
                  <c:v>高温组</c:v>
                </c:pt>
              </c:strCache>
            </c:strRef>
          </c:cat>
          <c:val>
            <c:numRef>
              <c:numCache>
                <c:pt idx="0">
                  <c:v>18</c:v>
                </c:pt>
                <c:pt idx="1">
                  <c:v>-7</c:v>
                </c:pt>
                <c:pt idx="3">
                  <c:v>11</c:v>
                </c:pt>
              </c:numCache>
            </c:numRef>
          </c:val>
        </c:ser>
        <c:gapWidth val="80"/>
        <c:axId val="555555555"/>
        <c:axId val="666666666"/>
      </c:barChart>
      <c:catAx>
        <c:axId val="555555555"/>
        <c:scaling>
          <c:orientation val="minMax"/>
        </c:scaling>
        <c:delete val="0"/>
        <c:axPos val="l"/>
        <c:crossAx val="666666666"/>
      </c:catAx>
      <c:valAx>
        <c:axId val="666666666"/>
        <c:scaling>
          <c:orientation val="minMax"/>
        </c:scaling>
        <c:delete val="0"/>
        <c:axPos val="b"/>
        <c:crossAx val="555555555"/>
        <c:majorGridlines/>
      </c:valAx>
    </c:plotArea>
    <c:legend>
      <c:legendPos val="b"/>
    </c:legend>
  </c:chart>
</c:chartSpace>
</file>

<file path=ppt/charts/chart5.xml><?xml version="1.0" encoding="utf-8"?>
<c:chartSpace xmlns:c="http://schemas.openxmlformats.org/drawingml/2006/chart" xmlns:a="http://schemas.openxmlformats.org/drawingml/2006/main">
  <c:chart>
    <c:title>
      <c:tx>
        <c:rich>
          <a:bodyPr/>
          <a:p>
            <a:r>
              <a:rPr lang="zh-CN" sz="1200" b="1"/>
              <a:t>散点图：光强与产氧速率</a:t>
            </a:r>
          </a:p>
        </c:rich>
      </c:tx>
    </c:title>
    <c:plotArea>
      <c:layout/>
      <c:scatterChart>
        <c:scatterStyle val="marker"/>
        <c:ser>
          <c:idx val="0"/>
          <c:order val="0"/>
          <c:tx>
            <c:strRef>
              <c:strCache>
                <c:pt idx="0">
                  <c:v>实测点</c:v>
                </c:pt>
              </c:strCache>
            </c:strRef>
          </c:tx>
          <c:spPr>
            <a:solidFill>
              <a:srgbClr val="ED7D31"/>
            </a:solidFill>
          </c:spPr>
          <c:xVal>
            <c:numRef>
              <c:numCache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  <c:pt idx="4">
                  <c:v>70</c:v>
                </c:pt>
                <c:pt idx="5">
                  <c:v>85</c:v>
                </c:pt>
              </c:numCache>
            </c:numRef>
          </c:xVal>
          <c:yVal>
            <c:numRef>
              <c:numCache>
                <c:pt idx="0">
                  <c:v>3</c:v>
                </c:pt>
                <c:pt idx="1">
                  <c:v>9</c:v>
                </c:pt>
                <c:pt idx="2">
                  <c:v>17</c:v>
                </c:pt>
                <c:pt idx="3">
                  <c:v>26</c:v>
                </c:pt>
                <c:pt idx="4">
                  <c:v>31</c:v>
                </c:pt>
                <c:pt idx="5">
                  <c:v>33</c:v>
                </c:pt>
              </c:numCache>
            </c:numRef>
          </c:yVal>
        </c:ser>
        <c:axId val="777777777"/>
        <c:axId val="888888888"/>
      </c:scatterChart>
      <c:valAx>
        <c:axId val="777777777"/>
        <c:scaling>
          <c:orientation val="minMax"/>
        </c:scaling>
        <c:delete val="0"/>
        <c:axPos val="b"/>
        <c:crossAx val="888888888"/>
      </c:valAx>
      <c:valAx>
        <c:axId val="888888888"/>
        <c:scaling>
          <c:orientation val="minMax"/>
        </c:scaling>
        <c:delete val="0"/>
        <c:axPos val="l"/>
        <c:crossAx val="777777777"/>
        <c:majorGridlines/>
      </c:valAx>
    </c:plotArea>
  </c:chart>
</c:chartSpace>
</file>

<file path=ppt/charts/chart6.xml><?xml version="1.0" encoding="utf-8"?>
<c:chartSpace xmlns:c="http://schemas.openxmlformats.org/drawingml/2006/chart" xmlns:a="http://schemas.openxmlformats.org/drawingml/2006/main">
  <c:chart>
    <c:title>
      <c:tx>
        <c:rich>
          <a:bodyPr/>
          <a:p>
            <a:r>
              <a:rPr lang="zh-CN" sz="1200" b="1"/>
              <a:t>圆环图：课时分配</a:t>
            </a:r>
          </a:p>
        </c:rich>
      </c:tx>
    </c:title>
    <c:plotArea>
      <c:layout/>
      <c:doughnutChart>
        <c:varyColors val="1"/>
        <c:ser>
          <c:idx val="0"/>
          <c:order val="0"/>
          <c:tx>
            <c:strRef>
              <c:strCache>
                <c:pt idx="0">
                  <c:v>课时</c:v>
                </c:pt>
              </c:strCache>
            </c:strRef>
          </c:tx>
          <c:cat>
            <c:strRef>
              <c:strCache>
                <c:pt idx="0">
                  <c:v>新课讲授</c:v>
                </c:pt>
                <c:pt idx="1">
                  <c:v>实验演示</c:v>
                </c:pt>
                <c:pt idx="2">
                  <c:v>课堂练习</c:v>
                </c:pt>
              </c:strCache>
            </c:strRef>
          </c:cat>
          <c:val>
            <c:numRef>
              <c:numCache>
                <c:pt idx="0">
                  <c:v>20</c:v>
                </c:pt>
                <c:pt idx="1">
                  <c:v>15</c:v>
                </c:pt>
                <c:pt idx="2">
                  <c:v>10</c:v>
                </c:pt>
              </c:numCache>
            </c:numRef>
          </c:val>
        </c:ser>
        <c:holeSize val="55"/>
      </c:doughnutChart>
    </c:plotArea>
  </c:chart>
</c:chartSpace>
</file>

<file path=ppt/charts/chart7.xml><?xml version="1.0" encoding="utf-8"?>
<c:chartSpace xmlns:c="http://schemas.openxmlformats.org/drawingml/2006/chart" xmlns:a="http://schemas.openxmlformats.org/drawingml/2006/main">
  <c:chart>
    <c:plotArea>
      <c:layout/>
      <c:radarChart>
        <c:radarStyle val="marker"/>
        <c:ser>
          <c:idx val="0"/>
          <c:order val="0"/>
          <c:tx>
            <c:strRef>
              <c:strCache>
                <c:pt idx="0">
                  <c:v>能力</c:v>
                </c:pt>
              </c:strCache>
            </c:strRef>
          </c:tx>
          <c:cat>
            <c:strRef>
              <c:strCache>
                <c:pt idx="0">
                  <c:v>记忆</c:v>
                </c:pt>
                <c:pt idx="1">
                  <c:v>理解</c:v>
                </c:pt>
                <c:pt idx="2">
                  <c:v>应用</c:v>
                </c:pt>
              </c:strCache>
            </c:strRef>
          </c:cat>
          <c:val>
            <c:numRef>
              <c:numCache>
                <c:pt idx="0">
                  <c:v>8</c:v>
                </c:pt>
                <c:pt idx="1">
                  <c:v>6</c:v>
                </c:pt>
                <c:pt idx="2">
                  <c:v>9</c:v>
                </c:pt>
              </c:numCache>
            </c:numRef>
          </c:val>
        </c:ser>
      </c:radarChart>
    </c:plotArea>
  </c:chart>
</c:chartSpace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urn:p" xmlns:a="urn:a" xmlns:r="urn:r" type="titleAndContent">
  <p:cSld>
    <p:spTree>
      <p:sp>
        <p:nvSpPr>
          <p:cNvPr id="1" name="标题占位符"/>
          <p:nvPr>
            <p:ph type="title"/>
          </p:nvPr>
        </p:nvSpPr>
        <p:spPr>
          <a:xfrm>
            <a:off x="609600" y="365125"/>
            <a:ext cx="10972800" cy="1325563"/>
          </a:xfrm>
        </p:spPr>
        <p:txBody>
          <a:bodyPr/>
          <a:lstStyle/>
        </p:txBody>
      </p:sp>
      <p:sp>
        <p:nvSpPr>
          <p:cNvPr id="2" name="内容占位符"/>
          <p:nvPr>
            <p:ph idx="1"/>
          </p:nvPr>
        </p:nvSpPr>
        <p:spPr>
          <a:xfrm>
            <a:off x="609600" y="1825625"/>
            <a:ext cx="10972800" cy="4000500"/>
          </a:xfrm>
        </p:spPr>
        <p:txBody>
          <a:bodyPr/>
          <a:lstStyle/>
        </p:txBody>
      </p:sp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urn:p" xmlns:a="urn:a" xmlns:r="urn:r">
  <p:cSld>
    <p:bg>
      <p:bgPr>
        <a:solidFill>
          <a:schemeClr val="bg1"/>
        </a:solidFill>
      </p:bgPr>
    </p:bg>
    <p:spTree>
      <p:sp>
        <p:nvSpPr>
          <p:cNvPr id="1" name="标题占位符"/>
          <p:nvPr>
            <p:ph type="title"/>
          </p:nvPr>
        </p:nvSpPr>
        <p:spPr>
          <a:xfrm>
            <a:off x="0" y="0"/>
            <a:ext cx="12192000" cy="1600200"/>
          </a:xfrm>
        </p:spPr>
        <p:txBody>
          <a:bodyPr/>
          <a:lstStyle/>
          <a:p>
            <a:r>
              <a:t>标题</a:t>
            </a:r>
          </a:p>
        </p:txBody>
      </p:sp>
      <p:sp>
        <p:nvSpPr>
          <p:cNvPr id="2" name="内容占位符"/>
          <p:nvPr>
            <p:ph idx="1"/>
          </p:nvPr>
        </p:nvSpPr>
        <p:spPr>
          <a:xfrm>
            <a:off x="0" y="1828800"/>
            <a:ext cx="12192000" cy="4572000"/>
          </a:xfrm>
        </p:spPr>
        <p:txBody>
          <a:bodyPr/>
          <a:lstStyle/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>
        <a:defRPr sz="4400" b="1">
          <a:solidFill>
            <a:schemeClr val="accent1"/>
          </a:solidFill>
          <a:latin typeface="+mj-lt"/>
          <a:ea typeface="+mj-ea"/>
        </a:defRPr>
      </a:lvl1pPr>
    </p:titleStyle>
    <p:bodyStyle>
      <a:lvl1pPr marL="342900" indent="-342900">
        <a:buFont typeface="Arial"/>
        <a:buChar char="●"/>
        <a:defRPr sz="2800">
          <a:latin typeface="+mn-lt"/>
          <a:ea typeface="+mn-ea"/>
        </a:defRPr>
      </a:lvl1pPr>
      <a:lvl2pPr marL="742950" indent="-285750">
        <a:buFont typeface="Arial"/>
        <a:buChar char="–"/>
        <a:defRPr sz="2400">
          <a:latin typeface="+mn-lt"/>
          <a:ea typeface="+mn-ea"/>
        </a:defRPr>
      </a:lvl2pPr>
    </p:bodyStyle>
    <p:otherStyle>
      <a:defPPr>
        <a:defRPr sz="1800"/>
      </a:def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example.com/openpptview" TargetMode="External"/></Relationships>
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video" Target="../media/media1.mp4"/><Relationship Id="rId4" Type="http://schemas.openxmlformats.org/officeDocument/2006/relationships/audio" Target="../media/media2.mp3"/></Relationships>
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/Relationships>

</file>

<file path=ppt/slides/slide1.xml><?xml version="1.0" encoding="utf-8"?>
<p:sld xmlns:p="urn:p" xmlns:a="urn:a" xmlns:r="urn:r">
  <p:cSld>
    <p:spTree>
      <p:sp>
        <p:nvSpPr>
          <p:cNvPr id="2" name="标题 1"/>
          <p:nvPr>
            <p:ph type="title"/>
          </p:nvPr>
        </p:nvSpPr>
        <p:txBody>
          <a:bodyPr/>
          <a:p>
            <a:r>
              <a:t>光合作用</a:t>
            </a:r>
          </a:p>
        </p:txBody>
      </p:sp>
      <p:sp>
        <p:nvSpPr>
          <p:cNvPr id="3" name="内容占位符 2"/>
          <p:nvPr>
            <p:ph idx="1"/>
          </p:nvPr>
        </p:nvSpPr>
        <p:txBody>
          <a:bodyPr/>
          <a:p>
            <a:pPr lvl="0"/>
            <a:r>
              <a:t>光反应阶段：发生在类囊体薄膜上</a:t>
            </a:r>
          </a:p>
          <a:p>
            <a:pPr lvl="1"/>
            <a:r>
              <a:t>水的光解产生氧气与 NADPH</a:t>
            </a:r>
          </a:p>
          <a:p>
            <a:pPr lvl="1"/>
            <a:r>
              <a:t>ATP 的合成</a:t>
            </a:r>
          </a:p>
          <a:p>
            <a:pPr lvl="0"/>
            <a:r>
              <a:t>暗反应阶段：发生在叶绿体基质中</a:t>
            </a:r>
          </a:p>
        </p:txBody>
      </p:sp>
      <p:sp>
        <p:nvSpPr>
          <p:cNvPr id="4" name="渐变矩形"/>
        </p:nvSpPr>
        <p:spPr>
          <a:xfrm>
            <a:off x="609600" y="5943600"/>
            <a:ext cx="3048000" cy="762000"/>
          </a:xfrm>
          <a:prstGeom prst="roundRect">
            <a:avLst>
              <a:gd name="adj" fmla="val 16000"/>
            </a:avLst>
          </a:prstGeom>
          <a:gradFill>
            <a:gsLst>
              <a:gs pos="0">
                <a:srgbClr val="1C6FB8"/>
              </a:gs>
              <a:gs pos="100000">
                <a:srgbClr val="0FA3A3"/>
              </a:gs>
            </a:gsLst>
            <a:lin ang="0" scaled="1"/>
          </a:gradFill>
        </p:spPr>
        <p:txBody>
          <a:bodyPr anchor="ctr"/>
          <a:p>
            <a:pPr algn="ctr"/>
            <a:r>
              <a:rPr sz="2000" b="1">
                <a:solidFill>
                  <a:srgbClr val="FFFFFF"/>
                </a:solidFill>
              </a:rPr>
              <a:t>光反应</a:t>
            </a:r>
          </a:p>
        </p:txBody>
      </p:sp>
      <p:sp>
        <p:nvSpPr>
          <p:cNvPr id="5" name="渐变矩形 2"/>
        </p:nvSpPr>
        <p:spPr>
          <a:xfrm>
            <a:off x="3886200" y="5943600"/>
            <a:ext cx="3048000" cy="762000"/>
          </a:xfrm>
          <a:prstGeom prst="roundRect">
            <a:avLst>
              <a:gd name="adj" fmla="val 16000"/>
            </a:avLst>
          </a:prstGeom>
          <a:gradFill>
            <a:gsLst>
              <a:gs pos="0">
                <a:srgbClr val="2F9E44"/>
              </a:gs>
              <a:gs pos="100000">
                <a:srgbClr val="F0A500"/>
              </a:gs>
            </a:gsLst>
            <a:lin ang="0" scaled="1"/>
          </a:gradFill>
        </p:spPr>
        <p:txBody>
          <a:bodyPr anchor="ctr"/>
          <a:p>
            <a:pPr algn="ctr"/>
            <a:r>
              <a:rPr sz="2000" b="1">
                <a:solidFill>
                  <a:srgbClr val="FFFFFF"/>
                </a:solidFill>
              </a:rPr>
              <a:t>暗反应</a:t>
            </a:r>
          </a:p>
        </p:txBody>
      </p:sp>
      <p:sp>
        <p:nvSpPr>
          <p:cNvPr id="6" name="流程箭头"/>
        </p:nvSpPr>
        <p:spPr>
          <a:xfrm>
            <a:off x="3733800" y="6172200"/>
            <a:ext cx="152400" cy="304800"/>
          </a:xfrm>
          <a:prstGeom prst="rightArrow">
            <a:avLst/>
          </a:prstGeom>
          <a:solidFill>
            <a:srgbClr val="8A8A8E"/>
          </a:solidFill>
        </p:spPr>
      </p:sp>
      <p:sp>
        <p:nvSpPr>
          <p:cNvPr id="7" name="强调椭圆"/>
        </p:nvSpPr>
        <p:spPr>
          <a:xfrm>
            <a:off x="7162800" y="5943600"/>
            <a:ext cx="2286000" cy="762000"/>
          </a:xfrm>
          <a:prstGeom prst="ellipse"/>
          <a:solidFill>
            <a:srgbClr val="FFF4CE"/>
          </a:solidFill>
          <a:ln w="25400">
            <a:solidFill>
              <a:srgbClr val="F0A500"/>
            </a:solidFill>
          </a:ln>
        </p:spPr>
        <p:txBody>
          <a:bodyPr anchor="ctr"/>
          <a:p>
            <a:pPr algn="ctr"/>
            <a:r>
              <a:rPr sz="1800" b="1">
                <a:solidFill>
                  <a:srgbClr val="8A5A00"/>
                </a:solidFill>
              </a:rPr>
              <a:t>总反应式</a:t>
            </a:r>
          </a:p>
        </p:txBody>
      </p:sp>
      <p:sp>
        <p:nvSpPr>
          <p:cNvPr id="8" name="星形装饰"/>
        </p:nvSpPr>
        <p:spPr>
          <a:xfrm>
            <a:off x="11003200" y="5486400"/>
            <a:ext cx="685800" cy="685800"/>
          </a:xfrm>
          <a:prstGeom prst="star5">
            <a:avLst/>
          </a:prstGeom>
          <a:solidFill>
            <a:srgbClr val="F0A500"/>
          </a:solidFill>
        </p:spPr>
      </p:sp>
    </p:spTree>
  </p:cSld>
</p:sld>
</file>

<file path=ppt/slides/slide2.xml><?xml version="1.0" encoding="utf-8"?>
<p:sld xmlns:p="urn:p" xmlns:a="urn:a" xmlns:r="urn:r">
  <p:cSld>
    <p:spTree>
      <p:sp>
        <p:nvSpPr>
          <p:cNvPr id="2" name="标题 1"/>
          <p:nvPr>
            <p:ph type="title"/>
          </p:nvPr>
        </p:nvSpPr>
        <p:txBody>
          <a:bodyPr/>
          <a:p>
            <a:r>
              <a:t>光反应详解</a:t>
            </a:r>
          </a:p>
        </p:txBody>
      </p:sp>
      <p:sp>
        <p:nvSpPr>
          <p:cNvPr id="3" name="内容占位符 2"/>
          <p:nvPr>
            <p:ph idx="1"/>
          </p:nvPr>
        </p:nvSpPr>
        <p:txBody>
          <a:bodyPr/>
          <a:p>
            <a:pPr lvl="0"/>
            <a:r>
              <a:t>场所：类囊体薄膜上的色素与酶</a:t>
            </a:r>
          </a:p>
          <a:p>
            <a:pPr lvl="1"/>
            <a:r>
              <a:t>水的光解：2H₂O → 4H⁺ + O₂ + 4e⁻</a:t>
            </a:r>
          </a:p>
          <a:p>
            <a:pPr lvl="1"/>
            <a:r>
              <a:t>ATP 与 NADPH 的生成</a:t>
            </a:r>
          </a:p>
          <a:p>
            <a:pPr lvl="0"/>
            <a:r>
              <a:t>条件：必须有光</a:t>
            </a:r>
          </a:p>
        </p:txBody>
      </p:sp>
      <p:sp>
        <p:nvSpPr>
          <p:cNvPr id="4" name="强调矩形"/>
        </p:nvSpPr>
        <p:spPr>
          <a:xfrm>
            <a:off x="762000" y="5486400"/>
            <a:ext cx="6096000" cy="914400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1C6FB8"/>
              </a:gs>
              <a:gs pos="100000">
                <a:srgbClr val="0FA3A3"/>
              </a:gs>
            </a:gsLst>
            <a:lin ang="5400000" scaled="1"/>
          </a:gradFill>
        </p:spPr>
        <p:txBody>
          <a:bodyPr anchor="ctr"/>
          <a:p>
            <a:pPr algn="ctr"/>
            <a:r>
              <a:rPr sz="2000" b="1">
                <a:solidFill>
                  <a:srgbClr val="FFFFFF"/>
                </a:solidFill>
              </a:rPr>
              <a:t>光能 → 活跃化学能</a:t>
            </a:r>
          </a:p>
        </p:txBody>
      </p:sp>
    </p:spTree>
  </p:cSld>
</p:sld>
</file>

<file path=ppt/slides/slide3.xml><?xml version="1.0" encoding="utf-8"?>
<p:sld xmlns:p="urn:p" xmlns:a="urn:a" xmlns:r="urn:r">
  <p:cSld>
    <p:spTree>
      <p:sp>
        <p:nvSpPr>
          <p:cNvPr id="2" name="标题 1"/>
          <p:nvPr>
            <p:ph type="title"/>
          </p:nvPr>
        </p:nvSpPr>
        <p:txBody>
          <a:bodyPr/>
          <a:p>
            <a:r>
              <a:t>暗反应详解</a:t>
            </a:r>
          </a:p>
        </p:txBody>
      </p:sp>
      <p:sp>
        <p:nvSpPr>
          <p:cNvPr id="3" name="内容占位符 2"/>
          <p:nvPr>
            <p:ph idx="1"/>
          </p:nvPr>
        </p:nvSpPr>
        <p:txBody>
          <a:bodyPr/>
          <a:p>
            <a:pPr lvl="0"/>
            <a:r>
              <a:t>场所：叶绿体基质</a:t>
            </a:r>
          </a:p>
          <a:p>
            <a:pPr lvl="1"/>
            <a:r>
              <a:t>CO₂ 的固定：CO₂ + C₅ → 2C₃</a:t>
            </a:r>
          </a:p>
          <a:p>
            <a:pPr lvl="1"/>
            <a:r>
              <a:t>C₃ 的还原：消耗 ATP 与 NADPH</a:t>
            </a:r>
          </a:p>
          <a:p>
            <a:pPr lvl="0"/>
            <a:r>
              <a:t>条件：有光无光都可进行</a:t>
            </a:r>
          </a:p>
        </p:txBody>
      </p:sp>
      <p:sp>
        <p:nvSpPr>
          <p:cNvPr id="4" name="星形装饰"/>
        </p:nvSpPr>
        <p:spPr>
          <a:xfrm>
            <a:off x="10363200" y="457200"/>
            <a:ext cx="1143000" cy="1143000"/>
          </a:xfrm>
          <a:prstGeom prst="star5">
            <a:avLst/>
          </a:prstGeom>
          <a:solidFill>
            <a:srgbClr val="2F9E44"/>
          </a:solidFill>
        </p:spPr>
      </p:sp>
    </p:spTree>
  </p:cSld>
</p:sld>
</file>

<file path=ppt/slides/slide4.xml><?xml version="1.0" encoding="utf-8"?>
<p:sld xmlns:p="urn:p" xmlns:a="urn:a" xmlns:r="urn:r">
  <p:cSld>
    <p:spTree>
      <p:sp>
        <p:nvSpPr>
          <p:cNvPr id="2" name="标题 1"/>
          <p:nvPr>
            <p:ph type="title"/>
          </p:nvPr>
        </p:nvSpPr>
        <p:txBody>
          <a:bodyPr/>
          <a:p>
            <a:r>
              <a:t>图片渲染校验</a:t>
            </a:r>
          </a:p>
        </p:txBody>
      </p:sp>
      <p:pic>
        <p:nvPicPr>
          <p:cNvPr id="4" name="原图"/>
          <p:cNvPicPr/>
          <p:nvPr/>
        </p:nvPicPr>
        <p:blipFill>
          <a:blip r:embed="rId2"/>
          <a:stretch>
            <a:fillRect/>
          </a:stretch>
        </p:blipFill>
        <p:spPr>
          <a:xfrm>
            <a:off x="762000" y="762000"/>
            <a:ext cx="3810000" cy="2857500"/>
          </a:xfrm>
          <a:prstGeom prst="rect">
            <a:avLst/>
          </a:prstGeom>
        </p:spPr>
      </p:pic>
      <p:pic>
        <p:nvPicPr>
          <p:cNvPr id="5" name="裁剪图"/>
          <p:cNvPicPr/>
          <p:nvPr/>
        </p:nvPicPr>
        <p:blipFill>
          <a:blip r:embed="rId2"/>
          <a:srcRect l="25000" t="25000" r="25000" b="25000"/>
          <a:stretch>
            <a:fillRect/>
          </a:stretch>
        </p:blipFill>
        <p:spPr>
          <a:xfrm>
            <a:off x="5080000" y="762000"/>
            <a:ext cx="2540000" cy="1905000"/>
          </a:xfrm>
          <a:prstGeom prst="rect">
            <a:avLst/>
          </a:prstGeom>
        </p:spPr>
      </p:pic>
      <p:sp>
        <p:nvSpPr>
          <p:cNvPr id="6" name="图片填充"/>
          <p:nvPr/>
        </p:nvSpPr>
        <p:spPr>
          <a:xfrm>
            <a:off x="762000" y="4064000"/>
            <a:ext cx="4318000" cy="2032000"/>
          </a:xfrm>
          <a:prstGeom prst="roundRect">
            <a:avLst>
              <a:gd name="adj" fmla="val 22000"/>
            </a:avLst>
          </a:prstGeom>
          <a:blipFill>
            <a:blip r:embed="rId2"/>
            <a:stretch>
              <a:fillRect/>
            </a:stretch>
          </a:blipFill>
        </p:spPr>
        <p:txBody>
          <a:bodyPr anchor="t"/>
          <a:p>
            <a:pPr algn="ctr"/>
            <a:r>
              <a:rPr sz="1600" b="1">
                <a:solidFill>
                  <a:srgbClr val="FFFFFF"/>
                </a:solidFill>
              </a:rPr>
              <a:t>图片填充</a:t>
            </a:r>
          </a:p>
        </p:txBody>
      </p:sp>
      <p:sp>
        <p:nvSpPr>
          <p:cNvPr id="7" name="说明"/>
          <p:nvPr/>
        </p:nvSpPr>
        <p:spPr>
          <a:xfrm>
            <a:off x="5080000" y="4064000"/>
            <a:ext cx="3810000" cy="1143000"/>
          </a:xfrm>
          <a:prstGeom prst="rect">
            <a:avLst/>
          </a:prstGeom>
          <a:solidFill>
            <a:srgbClr val="FFF4CE"/>
          </a:solidFill>
          <a:ln w="19050">
            <a:solidFill>
              <a:srgbClr val="F0A500"/>
            </a:solidFill>
          </a:ln>
        </p:spPr>
        <p:txBody>
          <a:bodyPr anchor="ctr"/>
          <a:p>
            <a:pPr algn="ctr"/>
            <a:r>
              <a:rPr sz="1400">
                <a:solidFill>
                  <a:srgbClr val="8A5A00"/>
                </a:solidFill>
              </a:rPr>
              <a:t>四角应分别是：红圆 / 绿方 / 黑方 / 白圆</a:t>
            </a:r>
          </a:p>
        </p:txBody>
      </p:sp>
    </p:spTree>
  </p:cSld>
</p:sld>
</file>

<file path=ppt/slides/slide5.xml><?xml version="1.0" encoding="utf-8"?>
<p:sld xmlns:p="urn:p" xmlns:a="urn:a" xmlns:r="urn:r">
  <p:cSld>
    <p:spTree>
      <p:sp>
        <p:nvSpPr>
          <p:cNvPr id="2" name="标题 1"/>
          <p:nvPr>
            <p:ph type="title"/>
          </p:nvPr>
        </p:nvSpPr>
        <p:txBody>
          <a:bodyPr/>
          <a:p>
            <a:r>
              <a:t>按钮与链接</a:t>
            </a:r>
          </a:p>
        </p:txBody>
      </p:sp>
      <!-- 动作按钮：跳到最后一页。热区应是整个圆角矩形，不只是文字 -->
      <p:sp>
        <p:nvSpPr>
          <p:cNvPr id="3" name="回到首页">
            <a:hlinkClick action="ppaction://hlinkshowjump?jump=firstslide" tooltip="回到第一页"/>
          </p:cNvPr>
          <p:nvPr/>
        </p:nvSpPr>
        <p:spPr>
          <a:xfrm>
            <a:off x="762000" y="2032000"/>
            <a:ext cx="3048000" cy="1143000"/>
          </a:xfrm>
          <a:prstGeom prst="roundRect">
            <a:avLst>
              <a:gd name="adj" fmla="val 25000"/>
            </a:avLst>
          </a:prstGeom>
          <a:solidFill>
            <a:srgbClr val="1C6FB8"/>
          </a:solidFill>
        </p:spPr>
        <p:txBody>
          <a:bodyPr anchor="ctr"/>
          <a:p>
            <a:pPr algn="ctr"/>
            <a:r>
              <a:rPr sz="2000" b="1">
                <a:solidFill>
                  <a:srgbClr val="FFFFFF"/>
                </a:solidFill>
              </a:rPr>
              <a:t>回到首页</a:t>
            </a:r>
          </a:p>
        </p:txBody>
      </p:sp>
      <!-- 动作按钮：结束放映 -->
      <p:sp>
        <p:nvSpPr>
          <p:cNvPr id="4" name="结束放映">
            <a:hlinkClick action="ppaction://hlinkshowjump?jump=endshow"/>
          </p:cNvPr>
          <p:nvPr/>
        </p:nvSpPr>
        <p:spPr>
          <a:xfrm>
            <a:off x="4572000" y="2032000"/>
            <a:ext cx="3048000" cy="1143000"/>
          </a:xfrm>
          <a:prstGeom prst="roundRect">
            <a:avLst>
              <a:gd name="adj" fmla="val 25000"/>
            </a:avLst>
          </a:prstGeom>
          <a:solidFill>
            <a:srgbClr val="C0392B"/>
          </a:solidFill>
        </p:spPr>
        <p:txBody>
          <a:bodyPr anchor="ctr"/>
          <a:p>
            <a:pPr algn="ctr"/>
            <a:r>
              <a:rPr sz="2000" b="1">
                <a:solidFill>
                  <a:srgbClr val="FFFFFF"/>
                </a:solidFill>
              </a:rPr>
              <a:t>结束放映</a:t>
            </a:r>
          </a:p>
        </p:txBody>
      </p:sp>
      <!-- 文字链接：整框热区，点击应打开浏览器 -->
      <p:sp>
        <p:nvSpPr>
          <p:cNvPr id="5" name="文字链接"/>
          <p:nvPr/>
        </p:nvSpPr>
        <p:spPr>
          <a:xfrm>
            <a:off x="762000" y="3657600"/>
            <a:ext cx="6858000" cy="762000"/>
          </a:xfrm>
          <a:prstGeom prst="rect">
            <a:avLst/>
          </a:prstGeom>
          <a:solidFill>
            <a:srgbClr val="EEF3F8"/>
          </a:solidFill>
          <a:ln w="19050">
            <a:solidFill>
              <a:srgbClr val="1C6FB8"/>
            </a:solidFill>
          </a:ln>
        </p:spPr>
        <p:txBody>
          <a:bodyPr anchor="ctr"/>
          <a:p>
            <a:pPr algn="ctr"/>
            <a:r>
              <a:rPr sz="1600" u="sng">
                <a:hlinkClick r:id="rId2" tooltip="打开 OpenPPTView 项目主页"/>
              </a:rPr>
              <a:t>点此打开外部链接</a:t>
            </a:r>
          </a:p>
        </p:txBody>
      </p:sp>
      <p:sp>
        <p:nvSpPr>
          <p:cNvPr id="6" name="说明"/>
          <p:nvPr/>
        </p:nvSpPr>
        <p:spPr>
          <a:xfrm>
            <a:off x="762000" y="4572000"/>
            <a:ext cx="6858000" cy="609600"/>
          </a:xfrm>
          <a:prstGeom prst="rect">
            <a:avLst/>
          </a:prstGeom>
        </p:spPr>
        <p:txBody>
          <a:bodyPr anchor="ctr"/>
          <a:p>
            <a:pPr algn="ctr"/>
            <a:r>
              <a:rPr sz="1300">
                <a:solidFill>
                  <a:srgbClr val="666666"/>
                </a:solidFill>
              </a:rPr>
              <a:t>放映时点按钮应跳转/结束，点蓝框应打开浏览器；拿起画笔后点击恢复为书写</a:t>
            </a:r>
          </a:p>
        </p:txBody>
      </p:sp>
    </p:spTree>
  </p:cSld>
</p:sld>
</file>

<file path=ppt/slides/slide6.xml><?xml version="1.0" encoding="utf-8"?>
<p:sld xmlns:p="urn:p" xmlns:a="urn:a" xmlns:r="urn:r" xmlns:p14="urn:p14">
  <p:cSld>
    <p:spTree>
      <p:sp>
        <p:nvSpPr>
          <p:cNvPr id="2" name="标题 1"/>
          <p:nvPr>
            <p:ph type="title"/>
          </p:nvPr>
        </p:nvSpPr>
        <p:txBody>
          <a:bodyPr/>
          <a:p>
            <a:r>
              <a:t>内嵌媒体</a:t>
            </a:r>
          </a:p>
        </p:txBody>
      </p:sp>
      <!-- 视频：blipFill 是封页图（视频首帧），nvPr 里才是媒体部件 -->
      <p:pic>
        <p:nvPicPr>
          <p:cNvPr id="4" name="内嵌视频"/>
          <p:cNvPicPr/>
          <p:nvPr>
            <a:videoFile r:link="rId3"/>
            <p14:media r:embed="rId3"/>
          </p:nvPr>
        </p:nvPicPr>
        <p:blipFill>
          <a:blip r:embed="rId2"/>
          <a:stretch>
            <a:fillRect/>
          </a:stretch>
        </p:blipFill>
        <p:spPr>
          <a:xfrm>
            <a:off x="762000" y="1524000"/>
            <a:ext cx="4572000" cy="3429000"/>
          </a:xfrm>
          <a:prstGeom prst="rect">
            <a:avLst/>
          </a:prstGeom>
          <a:ln w="12700">
            <a:solidFill>
              <a:srgbClr val="888888"/>
            </a:solidFill>
          </a:ln>
        </p:spPr>
      </p:pic>
      <!-- 音频：同一个形状机制，只是部件是 mp3 -->
      <p:pic>
        <p:nvPicPr>
          <p:cNvPr id="5" name="内嵌音频"/>
          <p:cNvPicPr/>
          <p:nvPr>
            <a:audioFile r:link="rId4"/>
            <p14:media r:embed="rId4"/>
          </p:nvPr>
        </p:nvPicPr>
        <p:blipFill>
          <a:blip r:embed="rId2"/>
          <a:stretch>
            <a:fillRect/>
          </a:stretch>
        </p:blipFill>
        <p:spPr>
          <a:xfrm>
            <a:off x="5715000" y="1524000"/>
            <a:ext cx="1600200" cy="1200150"/>
          </a:xfrm>
          <a:prstGeom prst="roundRect">
            <a:avLst>
              <a:gd name="adj" fmla="val 12000"/>
            </a:avLst>
          </a:prstGeom>
          <a:ln w="12700">
            <a:solidFill>
              <a:srgbClr val="888888"/>
            </a:solidFill>
          </a:ln>
        </p:spPr>
      </p:pic>
      <p:sp>
        <p:nvSpPr>
          <p:cNvPr id="6" name="说明"/>
          <p:nvPr/>
        </p:nvSpPr>
        <p:spPr>
          <a:xfrm>
            <a:off x="5715000" y="3048000"/>
            <a:ext cx="3124200" cy="1905000"/>
          </a:xfrm>
          <a:prstGeom prst="rect">
            <a:avLst/>
          </a:prstGeom>
          <a:solidFill>
            <a:srgbClr val="FFF4CE"/>
          </a:solidFill>
          <a:ln w="19050">
            <a:solidFill>
              <a:srgbClr val="F0A500"/>
            </a:solidFill>
          </a:ln>
        </p:spPr>
        <p:txBody>
          <a:bodyPr anchor="ctr"/>
          <a:p>
            <a:pPr algn="ctr"/>
            <a:r>
              <a:rPr sz="1300">
                <a:solidFill>
                  <a:srgbClr val="8A5A00"/>
                </a:solidFill>
              </a:rPr>
              <a:t>左边是视频（封页图为首帧）</a:t>
            </a:r>
          </a:p>
          <a:p>
            <a:pPr algn="ctr"/>
            <a:r>
              <a:rPr sz="1300">
                <a:solidFill>
                  <a:srgbClr val="8A5A00"/>
                </a:solidFill>
              </a:rPr>
              <a:t>右上角是音频</a:t>
            </a:r>
          </a:p>
          <a:p>
            <a:pPr algn="ctr"/>
            <a:r>
              <a:rPr sz="1300">
                <a:solidFill>
                  <a:srgbClr val="8A5A00"/>
                </a:solidFill>
              </a:rPr>
              <a:t>都点中间的按钮播放</a:t>
            </a:r>
          </a:p>
        </p:txBody>
      </p:sp>
    </p:spTree>
  </p:cSld>
</p:sld>
</file>

<file path=ppt/slides/slide7.xml><?xml version="1.0" encoding="utf-8"?>
<p:sld xmlns:p="urn:p" xmlns:a="urn:a" xmlns:r="urn:r">
  <p:cSld>
    <p:spTree>
      <p:sp>
        <p:nvSpPr>
          <p:cNvPr id="2" name="标题 1"/>
          <p:nvPr>
            <p:ph type="title"/>
          </p:nvPr>
        </p:nvSpPr>
        <p:txBody>
          <a:bodyPr/>
          <a:p>
            <a:r>
              <a:t>图表渲染</a:t>
            </a:r>
          </a:p>
        </p:txBody>
      </p:sp>
      <p:graphicFrame>
        <p:nvGraphicFramePr>
          <p:cNvPr id="4" name="图表 1"/>
          <p:cNvGraphicFramePr/>
          <p:nvPr/>
        </p:nvGraphicFramePr>
        <p:xfrm>
          <a:off x="609600" y="1200000"/>
          <a:ext cx="50292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图表 2"/>
          <p:cNvGraphicFramePr/>
          <p:nvPr/>
        </p:nvGraphicFramePr>
        <p:xfrm>
          <a:off x="6096000" y="1200000"/>
          <a:ext cx="502920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图表 3"/>
          <p:cNvGraphicFramePr/>
          <p:nvPr/>
        </p:nvGraphicFramePr>
        <p:xfrm>
          <a:off x="609600" y="3962400"/>
          <a:ext cx="5029200" cy="25603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图表 4"/>
          <p:cNvGraphicFramePr/>
          <p:nvPr/>
        </p:nvGraphicFramePr>
        <p:xfrm>
          <a:off x="6096000" y="3962400"/>
          <a:ext cx="5029200" cy="25603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</p:sld>
</file>

<file path=ppt/slides/slide8.xml><?xml version="1.0" encoding="utf-8"?>
<p:sld xmlns:p="urn:p" xmlns:a="urn:a" xmlns:r="urn:r">
  <p:cSld>
    <p:spTree>
      <p:sp>
        <p:nvSpPr>
          <p:cNvPr id="2" name="标题 1"/>
          <p:nvPr>
            <p:ph type="title"/>
          </p:nvPr>
        </p:nvSpPr>
        <p:txBody>
          <a:bodyPr/>
          <a:p>
            <a:r>
              <a:t>图表：散点与降级</a:t>
            </a:r>
          </a:p>
        </p:txBody>
      </p:sp>
      <p:graphicFrame>
        <p:nvGraphicFramePr>
          <p:cNvPr id="4" name="图表 5"/>
          <p:cNvGraphicFramePr/>
          <p:nvPr/>
        </p:nvGraphicFramePr>
        <p:xfrm>
          <a:off x="609600" y="1200000"/>
          <a:ext cx="60960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图表 6"/>
          <p:cNvGraphicFramePr/>
          <p:nvPr/>
        </p:nvGraphicFramePr>
        <p:xfrm>
          <a:off x="7315200" y="1200000"/>
          <a:ext cx="426720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!-- 雷达图：本版不支持，应降解为占位并给出中文原因，而不是空白 -->
      <p:graphicFrame>
        <p:nvGraphicFramePr>
          <p:cNvPr id="6" name="图表 7"/>
          <p:cNvGraphicFramePr/>
          <p:nvPr/>
        </p:nvGraphicFramePr>
        <p:xfrm>
          <a:off x="609600" y="4724400"/>
          <a:ext cx="5029200" cy="1905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</p:sld>
</file>

<file path=ppt/theme/theme1.xml><?xml version="1.0" encoding="utf-8"?>
<a:theme xmlns:a="urn:a" name="教学">
  <a:themeElements>
    <a:clrScheme name="教学">
      <a:dk1>
        <a:sysClr val="windowText" lastClr="1A1A1A"/>
      </a:dk1>
      <a:lt1>
        <a:sysClr val="window" lastClr="FFFFFF"/>
      </a:lt1>
      <a:dk2>
        <a:srgbClr val="2E4A6B"/>
      </a:dk2>
      <a:lt2>
        <a:srgbClr val="EEF3F8"/>
      </a:lt2>
      <a:accent1>
        <a:srgbClr val="1C6FB8"/>
      </a:accent1>
      <a:accent2>
        <a:srgbClr val="E8590C"/>
      </a:accent2>
      <a:accent3>
        <a:srgbClr val="2F9E44"/>
      </a:accent3>
      <a:accent4>
        <a:srgbClr val="F0A500"/>
      </a:accent4>
      <a:accent5>
        <a:srgbClr val="7048A8"/>
      </a:accent5>
      <a:accent6>
        <a:srgbClr val="0FA3A3"/>
      </a:accent6>
      <a:hlink>
        <a:srgbClr val="0563C1"/>
      </a:hlink>
      <a:folHlink>
        <a:srgbClr val="954F72"/>
      </a:folHlink>
    </a:clrScheme>
    <a:fontScheme name="教学">
      <a:majorFont>
        <a:latin typeface="Arial"/>
        <a:ea typeface="微软雅黑"/>
        <a:cs typeface=""/>
      </a:majorFont>
      <a:minorFont>
        <a:latin typeface="Arial"/>
        <a:ea typeface="宋体"/>
        <a:cs typeface=""/>
      </a:minorFont>
    </a:fontScheme>
    <a:fmtScheme name="教学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初中生物 光合作用</dc:title>
</cp:coreProperties>
</file>